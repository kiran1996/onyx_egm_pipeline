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E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3651705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dirty="0"/>
              <a:t>EGM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78892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3DCE1"/>
                </a:solidFill>
              </a:defRPr>
            </a:pPr>
            <a:r>
              <a:t>Technical Challenge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384048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Approach • Architecture • Data Quality • Production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5394960"/>
            <a:ext cx="20949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BEC8"/>
                </a:solidFill>
              </a:defRPr>
            </a:pPr>
            <a:r>
              <a:rPr lang="en-AU" dirty="0"/>
              <a:t>P</a:t>
            </a:r>
            <a:r>
              <a:rPr dirty="0" err="1"/>
              <a:t>resentation</a:t>
            </a:r>
            <a:r>
              <a:rPr dirty="0"/>
              <a:t> | 17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1. Objective &amp;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A simple, reproducible pipeline with business logic kept visible and testable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64008" cy="19202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98424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Turn raw EGM performance data into trusted, analysis-ready datasets.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Support metrics such as turnover, revenue and games played.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417320"/>
            <a:ext cx="64008" cy="1920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Core design choice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98424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Use an EL-T pattern: ingest raw data first, transform and validate in dbt.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Keep business rules in version-controlled SQL rather than hidden in ingestion code.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20" y="1417320"/>
            <a:ext cx="64008" cy="19202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47888" y="1581912"/>
            <a:ext cx="31089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984248"/>
            <a:ext cx="3090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Reproducible from a clean clone.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lineage, documented assumptions and explicit data quality gates.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862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 b="0">
                <a:solidFill>
                  <a:srgbClr val="191919"/>
                </a:solidFill>
              </a:defRPr>
            </a:pPr>
            <a:r>
              <a:t>The main principle: make the pipeline easy to understand, test, replay and eventually operate in production.</a:t>
            </a:r>
          </a:p>
          <a:p>
            <a:pPr>
              <a:spcAft>
                <a:spcPts val="700"/>
              </a:spcAft>
              <a:defRPr sz="1600" b="0">
                <a:solidFill>
                  <a:srgbClr val="191919"/>
                </a:solidFill>
              </a:defRPr>
            </a:pPr>
            <a:r>
              <a:t>Python handles ingestion/orchestration; dbt handles transformation, testing and documentation; Postgres provides the warehouse layer.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2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9A6FA01-3C41-494C-A6E4-8FD32B7F7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2. Key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Explicit assumptions prevent ambiguity and make the solution easier to maintain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1325880"/>
            <a:ext cx="64008" cy="16916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Raw data is deliberately 'dumb'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892807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Raw columns are stored as text; typing and business logic happen in dbt.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64008" cy="1691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4456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Natural key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(bus_date, venue_code, egm_description, fp) identifies a performance record.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25880"/>
            <a:ext cx="64008" cy="16916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FP is an opaque identifier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892807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It is treated as a machine identifier, not as a numeric measure.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383280"/>
            <a:ext cx="64008" cy="16916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Negative GMP is valid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395020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 negative value can represent a payout/excess return and is not automatically rejected.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343400" y="3383280"/>
            <a:ext cx="64008" cy="16916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4456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Idempotent ingestion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95020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Re-running the same source file should not create duplicates.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33832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092440" y="3383280"/>
            <a:ext cx="64008" cy="16916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8" y="35478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Documentation is part of delivery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950208"/>
            <a:ext cx="30449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Assumptions and decisions belong in the repo README and dbt documentation.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3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EF835FD4-3BEC-4E37-BA8D-2260E7867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3. Architecture &amp;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Separation of ingestion, transformation and consumption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50876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1" y="1920240"/>
            <a:ext cx="136245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Source CSV</a:t>
            </a:r>
          </a:p>
        </p:txBody>
      </p:sp>
      <p:sp>
        <p:nvSpPr>
          <p:cNvPr id="7" name="Chevron 6"/>
          <p:cNvSpPr/>
          <p:nvPr/>
        </p:nvSpPr>
        <p:spPr>
          <a:xfrm>
            <a:off x="2267712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788920" y="1828800"/>
            <a:ext cx="1874519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62072" y="1920240"/>
            <a:ext cx="172821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Python</a:t>
            </a:r>
            <a:br/>
            <a:r>
              <a:t>Ingestion</a:t>
            </a:r>
          </a:p>
        </p:txBody>
      </p:sp>
      <p:sp>
        <p:nvSpPr>
          <p:cNvPr id="10" name="Chevron 9"/>
          <p:cNvSpPr/>
          <p:nvPr/>
        </p:nvSpPr>
        <p:spPr>
          <a:xfrm>
            <a:off x="4800600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349240" y="1828800"/>
            <a:ext cx="201168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D91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22392" y="1920240"/>
            <a:ext cx="186537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raw.egm_performance</a:t>
            </a:r>
            <a:br/>
            <a:r>
              <a:t>(Postgres)</a:t>
            </a:r>
          </a:p>
        </p:txBody>
      </p:sp>
      <p:sp>
        <p:nvSpPr>
          <p:cNvPr id="13" name="Chevron 12"/>
          <p:cNvSpPr/>
          <p:nvPr/>
        </p:nvSpPr>
        <p:spPr>
          <a:xfrm>
            <a:off x="7498079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205740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1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19872" y="1920240"/>
            <a:ext cx="1911095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dbt Staging</a:t>
            </a:r>
            <a:br/>
            <a:r>
              <a:t>Typed + validated</a:t>
            </a:r>
          </a:p>
        </p:txBody>
      </p:sp>
      <p:sp>
        <p:nvSpPr>
          <p:cNvPr id="16" name="Chevron 15"/>
          <p:cNvSpPr/>
          <p:nvPr/>
        </p:nvSpPr>
        <p:spPr>
          <a:xfrm>
            <a:off x="10241280" y="2103120"/>
            <a:ext cx="457200" cy="36576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0789920" y="1828800"/>
            <a:ext cx="777240" cy="914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863072" y="1920240"/>
            <a:ext cx="630936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9202C"/>
                </a:solidFill>
              </a:defRPr>
            </a:pPr>
            <a:r>
              <a:t>Marts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28800" y="3703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828800" y="3703320"/>
            <a:ext cx="64008" cy="132588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029968" y="3867911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Venue Turnover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29968" y="427024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Venue-level turnover analysis.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3703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800600" y="3703320"/>
            <a:ext cx="64008" cy="1325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01768" y="3867911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EGM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01768" y="427024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Revenue by venue / machine.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3703320"/>
            <a:ext cx="25603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0" y="3703320"/>
            <a:ext cx="64008" cy="132588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973568" y="3867911"/>
            <a:ext cx="21945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Daily Summary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73568" y="4270248"/>
            <a:ext cx="21762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Daily operational overview.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544068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1919"/>
                </a:solidFill>
              </a:defRPr>
            </a:pPr>
            <a:r>
              <a:t>Docker Compose provides a reproducible local environment.</a:t>
            </a:r>
          </a:p>
          <a:p>
            <a:pPr>
              <a:spcAft>
                <a:spcPts val="700"/>
              </a:spcAft>
              <a:defRPr sz="1300" b="0">
                <a:solidFill>
                  <a:srgbClr val="191919"/>
                </a:solidFill>
              </a:defRPr>
            </a:pPr>
            <a:r>
              <a:t>dbt provides lineage, documentation, testing and version-controlled transformations.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4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EE876332-1204-4F39-9578-97548F0959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4. 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A thin staging layer followed by purpose-built analytical marts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64008" cy="356616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30175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Staging: stg_egm_performance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999232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Casts raw text into appropriate data types.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Standardises dates and numeric fields.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Provides the trusted foundation for downstream models.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Uses the natural key to maintain record identity.</a:t>
            </a:r>
          </a:p>
        </p:txBody>
      </p:sp>
      <p:sp>
        <p:nvSpPr>
          <p:cNvPr id="9" name="Chevron 8"/>
          <p:cNvSpPr/>
          <p:nvPr/>
        </p:nvSpPr>
        <p:spPr>
          <a:xfrm>
            <a:off x="4343400" y="2834640"/>
            <a:ext cx="594360" cy="457200"/>
          </a:xfrm>
          <a:prstGeom prst="chevron">
            <a:avLst/>
          </a:prstGeom>
          <a:solidFill>
            <a:srgbClr val="BEC6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257800" y="128016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257800" y="1280160"/>
            <a:ext cx="64008" cy="141732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58968" y="1444751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venue_turnover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8968" y="1847088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Venue-level turnover metrics and trends.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7800" y="292608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257800" y="2926080"/>
            <a:ext cx="64008" cy="14173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58968" y="309067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egm_revenue_by_venue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58968" y="3493008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Revenue aggregated by venue / EGM.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457200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257800" y="4572000"/>
            <a:ext cx="64008" cy="141732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58968" y="4736592"/>
            <a:ext cx="23774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daily_summary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58968" y="5138928"/>
            <a:ext cx="2359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Daily summary for operational analysis.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417320"/>
            <a:ext cx="2971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1417320"/>
            <a:ext cx="64008" cy="4572000"/>
          </a:xfrm>
          <a:prstGeom prst="rect">
            <a:avLst/>
          </a:prstGeom>
          <a:solidFill>
            <a:srgbClr val="19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59368" y="1581912"/>
            <a:ext cx="2606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Why this model works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59368" y="1984248"/>
            <a:ext cx="2587752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Each mart answers a clear business question.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Business logic is visible in SQL.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Downstream users do not need to understand raw source quirks.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The model can evolve without changing ingestion.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5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092D594-BCBD-4ED2-BEEF-BD331D933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5. Data Quality &amp; Incremental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Quality is treated as a gate, not as a clean-up exercise after the 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64008" cy="448056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Quality checks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04495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Not-null checks on key fields.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Uniqueness checks at mart grain.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Range checks for turnover and games played.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Custom valid-date validation.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Tests run as part of dbt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25880"/>
            <a:ext cx="64008" cy="44805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Incremental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892807"/>
            <a:ext cx="304495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Ingestion is safe to replay through upserts.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Staging reprocesses only new / changed data.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Daily deltas reduce unnecessary processing.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Natural key protects against duplicate records.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25880"/>
            <a:ext cx="3429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25880"/>
            <a:ext cx="64008" cy="448056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39328" y="149047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Interesting finding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892807"/>
            <a:ext cx="3044952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 games_played_sum value of ~4.29 billion appeared in the sample.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This is consistent with a 32-bit integer overflow in the source.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The pipeline surfaces it explicitly rather than silently coercing or dropping the value.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6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6D4A99E-3CFA-48A5-832F-35668BB4D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6. Documentation &amp;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A reviewer should be able to understand and run the solution without tribal knowledge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71600"/>
            <a:ext cx="64008" cy="42062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Run from scratch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938528"/>
            <a:ext cx="3044952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Clone repository.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docker compose up --build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Run the ingestion flow.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Run dbt build.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Generate / view dbt docs.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64008" cy="42062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What is documented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938528"/>
            <a:ext cx="3044952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Architecture and data flow.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Assumptions and business decisions.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Model purpose and grain.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Data quality expectations.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Known limitations and production considerations.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371600"/>
            <a:ext cx="34290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371600"/>
            <a:ext cx="64008" cy="42062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36192"/>
            <a:ext cx="3063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Why this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38528"/>
            <a:ext cx="3044952" cy="3520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Reproducibility reduces handover risk.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dbt lineage makes impact analysis easier.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Named tests make failures actionable.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documentation supports both technical and non-technical stakeholders.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7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C6D5DB0-FB2B-40F0-A2BA-C8AB38D2E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7. Demo /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Keep the live walkthrough short; use screenshots as a safety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394960" cy="4343400"/>
          </a:xfrm>
          <a:prstGeom prst="roundRect">
            <a:avLst/>
          </a:prstGeom>
          <a:solidFill>
            <a:srgbClr val="23272D"/>
          </a:solidFill>
          <a:ln w="19050">
            <a:solidFill>
              <a:srgbClr val="0091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700" b="1">
                <a:solidFill>
                  <a:srgbClr val="FFFFFF"/>
                </a:solidFill>
              </a:defRPr>
            </a:pPr>
            <a:r>
              <a:t>SCREENSHOT 1</a:t>
            </a:r>
          </a:p>
          <a:p>
            <a:pPr algn="ctr">
              <a:spcAft>
                <a:spcPts val="800"/>
              </a:spcAft>
              <a:defRPr sz="1300" b="1">
                <a:solidFill>
                  <a:srgbClr val="0091A0"/>
                </a:solidFill>
              </a:defRPr>
            </a:pPr>
            <a:r>
              <a:t>dbt build — terminal output</a:t>
            </a:r>
          </a:p>
          <a:p>
            <a:pPr algn="ctr">
              <a:spcAft>
                <a:spcPts val="200"/>
              </a:spcAft>
              <a:defRPr sz="600">
                <a:solidFill>
                  <a:srgbClr val="FFFFFF"/>
                </a:solidFill>
              </a:defRPr>
            </a:pPr>
            <a:endParaRPr/>
          </a:p>
          <a:p>
            <a:pPr algn="ctr">
              <a:spcAft>
                <a:spcPts val="200"/>
              </a:spcAft>
              <a:defRPr sz="1150">
                <a:solidFill>
                  <a:srgbClr val="C9CED6"/>
                </a:solidFill>
                <a:latin typeface="Consolas"/>
              </a:defRPr>
            </a:pPr>
            <a:r>
              <a:t>$ docker compose up --build</a:t>
            </a:r>
          </a:p>
          <a:p>
            <a:pPr algn="ctr">
              <a:spcAft>
                <a:spcPts val="200"/>
              </a:spcAft>
              <a:defRPr sz="1150">
                <a:solidFill>
                  <a:srgbClr val="C9CED6"/>
                </a:solidFill>
                <a:latin typeface="Consolas"/>
              </a:defRPr>
            </a:pPr>
            <a:r>
              <a:t>$ dbt build</a:t>
            </a:r>
          </a:p>
          <a:p>
            <a:pPr algn="ctr">
              <a:spcAft>
                <a:spcPts val="800"/>
              </a:spcAft>
              <a:defRPr sz="1150" b="1">
                <a:solidFill>
                  <a:srgbClr val="4CAF50"/>
                </a:solidFill>
                <a:latin typeface="Consolas"/>
              </a:defRPr>
            </a:pPr>
            <a:r>
              <a:t>Done. PASS=24 WARN=1 ERROR=0</a:t>
            </a:r>
          </a:p>
          <a:p>
            <a:pPr algn="ctr">
              <a:spcAft>
                <a:spcPts val="200"/>
              </a:spcAft>
              <a:defRPr sz="600">
                <a:solidFill>
                  <a:srgbClr val="FFFFFF"/>
                </a:solidFill>
              </a:defRPr>
            </a:pPr>
            <a:endParaRPr/>
          </a:p>
          <a:p>
            <a:pPr algn="ctr">
              <a:spcAft>
                <a:spcPts val="100"/>
              </a:spcAft>
              <a:defRPr sz="1050" i="1">
                <a:solidFill>
                  <a:srgbClr val="8A93A3"/>
                </a:solidFill>
              </a:defRPr>
            </a:pPr>
            <a:r>
              <a:t>Insert your real screenshot of this</a:t>
            </a:r>
          </a:p>
          <a:p>
            <a:pPr algn="ctr">
              <a:defRPr sz="1050" i="1">
                <a:solidFill>
                  <a:srgbClr val="8A93A3"/>
                </a:solidFill>
              </a:defRPr>
            </a:pPr>
            <a:r>
              <a:t>terminal output here, then delete this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07492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91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64008" cy="196596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1536192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19202C"/>
                </a:solidFill>
              </a:defRPr>
            </a:pPr>
            <a:r>
              <a:t>SCREENSHOT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1938528"/>
            <a:ext cx="4690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150" b="1">
                <a:solidFill>
                  <a:srgbClr val="0091A0"/>
                </a:solidFill>
              </a:defRPr>
            </a:pPr>
            <a:r>
              <a:t>dbt docs — lineage graph</a:t>
            </a:r>
          </a:p>
          <a:p>
            <a:pPr algn="l">
              <a:spcAft>
                <a:spcPts val="200"/>
              </a:spcAft>
              <a:defRPr sz="1100">
                <a:solidFill>
                  <a:srgbClr val="2A303A"/>
                </a:solidFill>
              </a:defRPr>
            </a:pPr>
            <a:r>
              <a:t>Run: dbt docs serve --profiles-dir .</a:t>
            </a:r>
          </a:p>
          <a:p>
            <a:pPr algn="l">
              <a:defRPr sz="1050" i="1">
                <a:solidFill>
                  <a:srgbClr val="8A93A3"/>
                </a:solidFill>
              </a:defRPr>
            </a:pPr>
            <a:r>
              <a:t>Screenshot the Lineage tab, then replace this card.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57600"/>
            <a:ext cx="50749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3657600"/>
            <a:ext cx="64008" cy="19659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01968" y="3822191"/>
            <a:ext cx="47091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Presenter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4224528"/>
            <a:ext cx="46908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The goal is not to show every file.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Show that the design works end-to-end and that the outputs are traceable back to the source.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rPr dirty="0"/>
              <a:t>8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7128193-F8EE-4147-8ACD-836D433FC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8. Trade-offs &amp; Design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The solution prioritises clarity and correctness within the challenge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452628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What I intentionally kept 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9194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Manual pipeline trigger.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Local file ingestion.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Single development dbt profile.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Print-based runtime messages.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Single Docker/Postgres environment.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64008" cy="452628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1490472"/>
            <a:ext cx="4937759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Why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892807"/>
            <a:ext cx="491947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Keeps the challenge focused on data engineering fundamentals.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Avoids introducing infrastructure that does not materially improve the transformation design.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Creates a clear baseline from which production capabilities can be added.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98932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19202C"/>
                </a:solidFill>
              </a:defRPr>
            </a:pPr>
            <a:r>
              <a:t>The important distinction: these are known constraints, not hidden technical debt.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9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580690F-0435-4AE1-821C-4F1052637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9. Path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Move from a working local pipeline to a resilient, observable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64008" cy="1234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8" y="149047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Manual run → Dagster / dbt Cloud / enterprise orchestrator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325880"/>
            <a:ext cx="64008" cy="1234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49047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1892807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Local CSV → object storage such as S3 with event or scheduled ingestion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2880360"/>
            <a:ext cx="64008" cy="12344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04495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Resilience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44728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Prints → structured logs; add retry + exponential backoff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8803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2880360"/>
            <a:ext cx="64008" cy="123444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3044952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44728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Hardcoded credentials → secrets manager / environment-based configuration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43484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4434840"/>
            <a:ext cx="64008" cy="123444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4599431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500176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Single local Postgres → managed database, backups and monitoring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443484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309360" y="4434840"/>
            <a:ext cx="64008" cy="123444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10528" y="4599431"/>
            <a:ext cx="48920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CI/CD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8" y="5001768"/>
            <a:ext cx="48737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No merge gate → automated dbt build/tests on pull requests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10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21C8C5C8-8813-4C9C-98CA-E8CF2A1FB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9601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02C"/>
                </a:solidFill>
              </a:defRPr>
            </a:pPr>
            <a:r>
              <a:t>10.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914400"/>
            <a:ext cx="9509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6C78"/>
                </a:solidFill>
              </a:defRPr>
            </a:pPr>
            <a:r>
              <a:t>What I would want the team to take away from the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64008" cy="361188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5819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Trusted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1984248"/>
            <a:ext cx="29535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Raw data is preserved.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Transformations are explicit.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Quality checks are automated.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64008" cy="36118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36007" y="15819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Maintainable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1984248"/>
            <a:ext cx="29535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model boundaries.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Reproducible environment.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Documented assumptions and lineage.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3375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CE0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417320"/>
            <a:ext cx="64008" cy="3611880"/>
          </a:xfrm>
          <a:prstGeom prst="rect">
            <a:avLst/>
          </a:prstGeom>
          <a:solidFill>
            <a:srgbClr val="CD91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3608" y="1581912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9202C"/>
                </a:solidFill>
              </a:defRPr>
            </a:pPr>
            <a:r>
              <a:t>Ready to evolve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984248"/>
            <a:ext cx="295351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Incremental processing.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Known production gaps.</a:t>
            </a:r>
          </a:p>
          <a:p>
            <a:pPr>
              <a:spcAft>
                <a:spcPts val="500"/>
              </a:spcAft>
              <a:defRPr sz="1150">
                <a:solidFill>
                  <a:srgbClr val="2A303A"/>
                </a:solidFill>
              </a:defRPr>
            </a:pPr>
            <a:r>
              <a:t>Clear roadmap for orchestration, security and CI/CD.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19202C"/>
                </a:solidFill>
              </a:defRPr>
            </a:pPr>
            <a:r>
              <a:t>Overall approach: build something simple enough to explain, strong enough to trust, and structured enough to productionize.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9224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C78"/>
                </a:solidFill>
              </a:defRPr>
            </a:pPr>
            <a:r>
              <a:t>Onyx Gaming | Data Pipeline Challenge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365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646C78"/>
                </a:solidFill>
              </a:defRPr>
            </a:pPr>
            <a:r>
              <a:t>11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0C98F0F-086B-4AB9-90D2-B1BA783A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94035" y="164592"/>
            <a:ext cx="1144800" cy="114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0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46120"/>
            <a:ext cx="8869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DD7DC"/>
                </a:solidFill>
              </a:defRPr>
            </a:pPr>
            <a:r>
              <a:t>Happy to walk through any design decision, trade-off or production consideration.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166360" y="4251960"/>
            <a:ext cx="1828800" cy="45720"/>
          </a:xfrm>
          <a:prstGeom prst="rect">
            <a:avLst/>
          </a:prstGeom>
          <a:solidFill>
            <a:srgbClr val="0091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1168</Words>
  <Application>Microsoft Office PowerPoint</Application>
  <PresentationFormat>Widescreen</PresentationFormat>
  <Paragraphs>183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Kiran Nai</cp:lastModifiedBy>
  <cp:revision>4</cp:revision>
  <dcterms:created xsi:type="dcterms:W3CDTF">2013-01-27T09:14:16Z</dcterms:created>
  <dcterms:modified xsi:type="dcterms:W3CDTF">2026-08-16T05:03:35Z</dcterms:modified>
  <cp:category/>
</cp:coreProperties>
</file>